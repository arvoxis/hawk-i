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with: 'Every year, bridges collapse in India. Not because we lack engineers. Because we lack intelligence in how we inspect.' Then introduce HAWK-I.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the bridge disasters. These aren't statistics — they're failures of process. Every one had no inspection record in years.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Emphasise: this isn't a knowledge problem. Engineers know how to inspect. It's a scale and process problem. India simply doesn't have enough people or tools to inspect at the required frequency.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message: 'An engineer types cracked concrete — the drone finds every instance. No training. No labels. No waiting.' That sentence is the product.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step as if you're describing a real inspection. Step 3 is where the magic is — zero-shot detection means no training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first USP is the knockout punch. No other team will have zero-shot detection. Lead with that. Everything else reinforces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the layered approach: build the core loop first on Day 1, add AI layers on Day 2, polish for demo on Day 3. This is how you de-risk a 3-day build.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specific about what's working. Judges respect honesty. The software foundation is fully operational — live demo the dashboard if possible right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to each layer and say one sentence. 'Layer 2 is the key — all AI inference happens on the drone, offline, before reaching the ground station.'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1 target of ₹70L ARR is conservative. NHAI alone has a ₹2,500 crore maintenance budget. DPIIT Startup India gives government procurement access — that's the wedge.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before/after comparison is your most compelling visual. 2–4 days → 90 minutes is something every judge can immediately understand regardless of technical background.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Paint the big picture: HAWK-I isn't a drone product — it's the sensing layer of smart infrastructure. Phase 3 is India's infrastructure getting a nervous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with: 'India doesn't just need more inspectors. It needs smarter ones. HAWK-I is that intelligence layer.' Then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4952" cy="73152"/>
          </a:xfrm>
          <a:prstGeom prst="rect">
            <a:avLst/>
          </a:prstGeom>
          <a:solidFill>
            <a:srgbClr val="FF9933"/>
          </a:solidFill>
          <a:ln w="12700">
            <a:solidFill>
              <a:srgbClr val="FF99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44952" y="0"/>
            <a:ext cx="3054096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99048" y="0"/>
            <a:ext cx="3044952" cy="73152"/>
          </a:xfrm>
          <a:prstGeom prst="rect">
            <a:avLst/>
          </a:prstGeom>
          <a:solidFill>
            <a:srgbClr val="138808"/>
          </a:solidFill>
          <a:ln w="12700">
            <a:solidFill>
              <a:srgbClr val="13880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0" y="274320"/>
            <a:ext cx="4114800" cy="4114800"/>
          </a:xfrm>
          <a:prstGeom prst="oval">
            <a:avLst/>
          </a:prstGeom>
          <a:solidFill>
            <a:srgbClr val="F59E0B">
              <a:alpha val="8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EQUINOX '26   ·   OPEN INNOVATION TRACK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5943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HAWK-I</a:t>
            </a:r>
            <a:endParaRPr lang="en-US" sz="8800" dirty="0"/>
          </a:p>
        </p:txBody>
      </p:sp>
      <p:sp>
        <p:nvSpPr>
          <p:cNvPr id="8" name="Text 6"/>
          <p:cNvSpPr/>
          <p:nvPr/>
        </p:nvSpPr>
        <p:spPr>
          <a:xfrm>
            <a:off x="3474720" y="91440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8800" dirty="0"/>
          </a:p>
        </p:txBody>
      </p:sp>
      <p:sp>
        <p:nvSpPr>
          <p:cNvPr id="9" name="Text 7"/>
          <p:cNvSpPr/>
          <p:nvPr/>
        </p:nvSpPr>
        <p:spPr>
          <a:xfrm>
            <a:off x="457200" y="23317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Infrastructure, Inspected by AI — Not by Human Lives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2880360"/>
            <a:ext cx="41148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017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1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Drone Inspection · No Training Data · Works Offline · PWD-Ready Reports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3977640"/>
            <a:ext cx="1920240" cy="868680"/>
          </a:xfrm>
          <a:prstGeom prst="rect">
            <a:avLst/>
          </a:prstGeom>
          <a:solidFill>
            <a:srgbClr val="1F2937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977640"/>
            <a:ext cx="192024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0233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02920" y="4352544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Images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Needed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633472" y="3977640"/>
            <a:ext cx="1920240" cy="868680"/>
          </a:xfrm>
          <a:prstGeom prst="rect">
            <a:avLst/>
          </a:prstGeom>
          <a:solidFill>
            <a:srgbClr val="1F2937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633472" y="3977640"/>
            <a:ext cx="192024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33472" y="40233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90min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679192" y="4352544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Structure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809744" y="3977640"/>
            <a:ext cx="1920240" cy="868680"/>
          </a:xfrm>
          <a:prstGeom prst="rect">
            <a:avLst/>
          </a:prstGeom>
          <a:solidFill>
            <a:srgbClr val="1F2937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09744" y="3977640"/>
            <a:ext cx="192024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9744" y="40233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10×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855464" y="4352544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Cheaper Than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Audit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986016" y="3977640"/>
            <a:ext cx="1920240" cy="868680"/>
          </a:xfrm>
          <a:prstGeom prst="rect">
            <a:avLst/>
          </a:prstGeom>
          <a:solidFill>
            <a:srgbClr val="1F2937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86016" y="3977640"/>
            <a:ext cx="192024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86016" y="40233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1.5L+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031736" y="4352544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 in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491947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Hawk-I   ·   Equinox '26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Infrastructure Crisis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dangerous, and completely unscalable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4114800" cy="1371600"/>
          </a:xfrm>
          <a:prstGeom prst="rect">
            <a:avLst/>
          </a:prstGeom>
          <a:solidFill>
            <a:srgbClr val="111827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417320"/>
            <a:ext cx="54864" cy="1371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554480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15270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Inspections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02920" y="1892808"/>
            <a:ext cx="3886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PWD engineers walk structures with clipboards. Highly subjective — no quantification, no GPS tagging, no digital record.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754880" y="1417320"/>
            <a:ext cx="4114800" cy="1371600"/>
          </a:xfrm>
          <a:prstGeom prst="rect">
            <a:avLst/>
          </a:prstGeom>
          <a:solidFill>
            <a:srgbClr val="111827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54880" y="1417320"/>
            <a:ext cx="54864" cy="13716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472" y="1554480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49240" y="15270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Risk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892040" y="1892808"/>
            <a:ext cx="3886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dangled on ropes to inspect bridge undersides. Earn ₹800–1200/day with zero fall insurance.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365760" y="3017520"/>
            <a:ext cx="4114800" cy="1371600"/>
          </a:xfrm>
          <a:prstGeom prst="rect">
            <a:avLst/>
          </a:prstGeom>
          <a:solidFill>
            <a:srgbClr val="111827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365760" y="3017520"/>
            <a:ext cx="54864" cy="13716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3154680"/>
            <a:ext cx="347472" cy="34747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60120" y="31272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Digital Tracking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502920" y="3493008"/>
            <a:ext cx="3886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written in paper registers. No searchable database, no way to track deterioration over time.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4754880" y="3017520"/>
            <a:ext cx="4114800" cy="1371600"/>
          </a:xfrm>
          <a:prstGeom prst="rect">
            <a:avLst/>
          </a:prstGeom>
          <a:solidFill>
            <a:srgbClr val="111827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4754880" y="3017520"/>
            <a:ext cx="54864" cy="1371600"/>
          </a:xfrm>
          <a:prstGeom prst="rect">
            <a:avLst/>
          </a:prstGeom>
          <a:solidFill>
            <a:srgbClr val="FF9933"/>
          </a:solidFill>
          <a:ln w="12700">
            <a:solidFill>
              <a:srgbClr val="FF9933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3154680"/>
            <a:ext cx="347472" cy="34747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349240" y="31272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&amp; Infrequent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4892040" y="3493008"/>
            <a:ext cx="3886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IRC standards mandate 5-year cycles. Reality: most bridges go 10–20 years without proper inspection.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solidFill>
            <a:srgbClr val="1F293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502920" y="47091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Morbi Bridge (2022) · 135 dead  |  Majerhat (2018) · 3 dead  |  Savitri Bridge (2016) · 28 dead  —  All lacked recent inspection records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Scale of Damage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India's 1.5 lakh bridges and public infrastructure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1874520" cy="1371600"/>
          </a:xfrm>
          <a:prstGeom prst="rect">
            <a:avLst/>
          </a:prstGeom>
          <a:solidFill>
            <a:srgbClr val="1F2937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417320"/>
            <a:ext cx="187452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55448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₹5–15L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manual inspection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87168" y="1417320"/>
            <a:ext cx="1874520" cy="1371600"/>
          </a:xfrm>
          <a:prstGeom prst="rect">
            <a:avLst/>
          </a:prstGeom>
          <a:solidFill>
            <a:srgbClr val="1F2937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87168" y="1417320"/>
            <a:ext cx="187452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87168" y="155448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yrs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578608" y="20116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bridge age in India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08576" y="1417320"/>
            <a:ext cx="1874520" cy="1371600"/>
          </a:xfrm>
          <a:prstGeom prst="rect">
            <a:avLst/>
          </a:prstGeom>
          <a:solidFill>
            <a:srgbClr val="1F2937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08576" y="1417320"/>
            <a:ext cx="187452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08576" y="155448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yrs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700016" y="20116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IRC mandated cycle (rarely followed)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729984" y="1417320"/>
            <a:ext cx="1874520" cy="1371600"/>
          </a:xfrm>
          <a:prstGeom prst="rect">
            <a:avLst/>
          </a:prstGeom>
          <a:solidFill>
            <a:srgbClr val="1F2937"/>
          </a:solidFill>
          <a:ln w="19050">
            <a:solidFill>
              <a:srgbClr val="FF99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29984" y="1417320"/>
            <a:ext cx="1874520" cy="54864"/>
          </a:xfrm>
          <a:prstGeom prst="rect">
            <a:avLst/>
          </a:prstGeom>
          <a:solidFill>
            <a:srgbClr val="FF9933"/>
          </a:solidFill>
          <a:ln w="12700">
            <a:solidFill>
              <a:srgbClr val="FF99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29984" y="155448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9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45+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821424" y="20116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bridge collapses since 2000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2971800"/>
            <a:ext cx="2606040" cy="1783080"/>
          </a:xfrm>
          <a:prstGeom prst="rect">
            <a:avLst/>
          </a:prstGeom>
          <a:solidFill>
            <a:srgbClr val="111827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2971800"/>
            <a:ext cx="54864" cy="17830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0815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Lost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" y="3319272"/>
            <a:ext cx="2377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workers face falls, collapses, and toxic environments daily. Zero safety standards enforcement across India's unorganised inspection sector.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00400" y="2971800"/>
            <a:ext cx="2606040" cy="1783080"/>
          </a:xfrm>
          <a:prstGeom prst="rect">
            <a:avLst/>
          </a:prstGeom>
          <a:solidFill>
            <a:srgbClr val="111827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0" y="2971800"/>
            <a:ext cx="54864" cy="1783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37560" y="30815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Inefficiency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337560" y="3319272"/>
            <a:ext cx="2377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₹5–15L per bridge audit, 2–4 days, handwritten report. India has 1.5 lakh bridges — full audit cycle would cost crores and take decades.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035040" y="2971800"/>
            <a:ext cx="2606040" cy="1783080"/>
          </a:xfrm>
          <a:prstGeom prst="rect">
            <a:avLst/>
          </a:prstGeom>
          <a:solidFill>
            <a:srgbClr val="111827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35040" y="2971800"/>
            <a:ext cx="54864" cy="17830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72200" y="30815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Layer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172200" y="3319272"/>
            <a:ext cx="2377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GPS-tagged defect records. No historical comparison. Cities have no idea which structures are deteriorating fastest until something collapses.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 HAWK-I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AI inspection — describe it, the drone finds it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74720" y="1371600"/>
            <a:ext cx="2194560" cy="2194560"/>
          </a:xfrm>
          <a:prstGeom prst="oval">
            <a:avLst/>
          </a:prstGeom>
          <a:solidFill>
            <a:srgbClr val="F59E0B">
              <a:alpha val="12000"/>
            </a:srgbClr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0" y="21945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HAWK-I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74320" y="1463040"/>
            <a:ext cx="2834640" cy="1508760"/>
          </a:xfrm>
          <a:prstGeom prst="rect">
            <a:avLst/>
          </a:prstGeom>
          <a:solidFill>
            <a:srgbClr val="111827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463040"/>
            <a:ext cx="283464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600200"/>
            <a:ext cx="347472" cy="34747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41248" y="157276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Training Data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11480" y="1938528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any defect in English or Hindi. Grounding DINO finds it instantly — no model training ever.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74320" y="3200400"/>
            <a:ext cx="2834640" cy="1508760"/>
          </a:xfrm>
          <a:prstGeom prst="rect">
            <a:avLst/>
          </a:prstGeom>
          <a:solidFill>
            <a:srgbClr val="111827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74320" y="3200400"/>
            <a:ext cx="283464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337560"/>
            <a:ext cx="347472" cy="34747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41248" y="331012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Offline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11480" y="3675888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Gemma-3 runs locally. No internet required — built for remote highways and hill-state bridges.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492240" y="1463040"/>
            <a:ext cx="2834640" cy="1508760"/>
          </a:xfrm>
          <a:prstGeom prst="rect">
            <a:avLst/>
          </a:prstGeom>
          <a:solidFill>
            <a:srgbClr val="111827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492240" y="1463040"/>
            <a:ext cx="283464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1600200"/>
            <a:ext cx="347472" cy="34747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059168" y="157276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Quantified Output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6629400" y="1938528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3 measures exact crack size in cm². Not just photos — precise measurements for PWD reports.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6492240" y="3200400"/>
            <a:ext cx="2834640" cy="1508760"/>
          </a:xfrm>
          <a:prstGeom prst="rect">
            <a:avLst/>
          </a:prstGeom>
          <a:solidFill>
            <a:srgbClr val="111827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492240" y="3200400"/>
            <a:ext cx="2834640" cy="45720"/>
          </a:xfrm>
          <a:prstGeom prst="rect">
            <a:avLst/>
          </a:prstGeom>
          <a:solidFill>
            <a:srgbClr val="FF9933"/>
          </a:solidFill>
          <a:ln w="12700">
            <a:solidFill>
              <a:srgbClr val="FF9933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3337560"/>
            <a:ext cx="347472" cy="34747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059168" y="331012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10× Cheaper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6629400" y="3675888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₹80K–1.5L per inspection vs ₹5–15L manual. Makes quarterly inspection financially viable.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3108960" y="2240280"/>
            <a:ext cx="36576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dash"/>
          </a:ln>
        </p:spPr>
      </p:sp>
      <p:sp>
        <p:nvSpPr>
          <p:cNvPr id="29" name="Shape 23"/>
          <p:cNvSpPr/>
          <p:nvPr/>
        </p:nvSpPr>
        <p:spPr>
          <a:xfrm>
            <a:off x="3108960" y="3749040"/>
            <a:ext cx="36576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dash"/>
          </a:ln>
        </p:spPr>
      </p:sp>
      <p:sp>
        <p:nvSpPr>
          <p:cNvPr id="30" name="Shape 24"/>
          <p:cNvSpPr/>
          <p:nvPr/>
        </p:nvSpPr>
        <p:spPr>
          <a:xfrm>
            <a:off x="5669280" y="2240280"/>
            <a:ext cx="82296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dash"/>
          </a:ln>
        </p:spPr>
      </p:sp>
      <p:sp>
        <p:nvSpPr>
          <p:cNvPr id="31" name="Shape 25"/>
          <p:cNvSpPr/>
          <p:nvPr/>
        </p:nvSpPr>
        <p:spPr>
          <a:xfrm>
            <a:off x="5669280" y="3749040"/>
            <a:ext cx="82296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dash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4-Step Inspection Process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mission brief to PDF report in 90 minutes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1920240" cy="3383280"/>
          </a:xfrm>
          <a:prstGeom prst="rect">
            <a:avLst/>
          </a:prstGeom>
          <a:solidFill>
            <a:srgbClr val="111827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417320"/>
            <a:ext cx="19202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2688" y="1600200"/>
            <a:ext cx="777240" cy="777240"/>
          </a:xfrm>
          <a:prstGeom prst="rect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1627632"/>
            <a:ext cx="777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75488" y="2487168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Planning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" y="3017520"/>
            <a:ext cx="171907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types defect queries (English/Hindi). Flight path defined on satellite map. Waypoints uploaded to Pixhawk FC.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0" y="2651760"/>
            <a:ext cx="256032" cy="548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50592" y="2487168"/>
            <a:ext cx="109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542032" y="1417320"/>
            <a:ext cx="1920240" cy="3383280"/>
          </a:xfrm>
          <a:prstGeom prst="rect">
            <a:avLst/>
          </a:prstGeom>
          <a:solidFill>
            <a:srgbClr val="111827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42032" y="1417320"/>
            <a:ext cx="192024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08960" y="1600200"/>
            <a:ext cx="777240" cy="777240"/>
          </a:xfrm>
          <a:prstGeom prst="rect">
            <a:avLst/>
          </a:prstGeom>
          <a:solidFill>
            <a:srgbClr val="3B82F6">
              <a:alpha val="1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08960" y="1627632"/>
            <a:ext cx="777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2651760" y="2487168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Drone Flight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651760" y="3017520"/>
            <a:ext cx="171907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Quadcopter follows waypoints autonomously. 2-axis gimbal keeps camera stable. GPS logs coordinates at 10Hz.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462272" y="2651760"/>
            <a:ext cx="256032" cy="548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26864" y="2487168"/>
            <a:ext cx="109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718304" y="1417320"/>
            <a:ext cx="1920240" cy="3383280"/>
          </a:xfrm>
          <a:prstGeom prst="rect">
            <a:avLst/>
          </a:prstGeom>
          <a:solidFill>
            <a:srgbClr val="111827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18304" y="1417320"/>
            <a:ext cx="192024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285232" y="1600200"/>
            <a:ext cx="777240" cy="777240"/>
          </a:xfrm>
          <a:prstGeom prst="rect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85232" y="1627632"/>
            <a:ext cx="777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4828032" y="2487168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Detection (Edge)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28032" y="3017520"/>
            <a:ext cx="171907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YOLO11n at 60fps for known defects. Grounding DINO for text-based zero-shot detection. Every detection GPS-tagged.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638544" y="2651760"/>
            <a:ext cx="256032" cy="548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03136" y="2487168"/>
            <a:ext cx="109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6894576" y="1417320"/>
            <a:ext cx="1920240" cy="3383280"/>
          </a:xfrm>
          <a:prstGeom prst="rect">
            <a:avLst/>
          </a:prstGeom>
          <a:solidFill>
            <a:srgbClr val="111827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894576" y="1417320"/>
            <a:ext cx="1920240" cy="54864"/>
          </a:xfrm>
          <a:prstGeom prst="rect">
            <a:avLst/>
          </a:prstGeom>
          <a:solidFill>
            <a:srgbClr val="FF9933"/>
          </a:solidFill>
          <a:ln w="12700">
            <a:solidFill>
              <a:srgbClr val="FF99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461504" y="1600200"/>
            <a:ext cx="777240" cy="777240"/>
          </a:xfrm>
          <a:prstGeom prst="rect">
            <a:avLst/>
          </a:prstGeom>
          <a:solidFill>
            <a:srgbClr val="FF9933">
              <a:alpha val="15000"/>
            </a:srgbClr>
          </a:solidFill>
          <a:ln w="12700">
            <a:solidFill>
              <a:srgbClr val="FF99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61504" y="1627632"/>
            <a:ext cx="777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9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7004304" y="2487168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&amp; Reporting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004304" y="3017520"/>
            <a:ext cx="171907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3 measures defect in cm/cm². Gemma-3 generates PWD-format report. PDF ready on landing.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solidFill>
            <a:srgbClr val="1F293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8737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5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Tech: Pixhawk FC  ·  NVIDIA Jetson Orin Nano  ·  YOLO11n  ·  Grounding DINO  ·  SAM 3  ·  Gemma-3 via Ollama  ·  FastAPI  ·  PostGIS  ·  Streamlit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SELLING POINTS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HAWK-I Different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no other inspection system in India has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2651760" cy="1508760"/>
          </a:xfrm>
          <a:prstGeom prst="rect">
            <a:avLst/>
          </a:prstGeom>
          <a:solidFill>
            <a:srgbClr val="111827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417320"/>
            <a:ext cx="54864" cy="1508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1563624"/>
            <a:ext cx="310896" cy="3108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86968" y="15087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Training Data Required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1892808"/>
            <a:ext cx="24231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DINO understands open-vocabulary language. Type any defect — it finds it. Competing systems need weeks of labeled images per defect type.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172968" y="1417320"/>
            <a:ext cx="2651760" cy="1508760"/>
          </a:xfrm>
          <a:prstGeom prst="rect">
            <a:avLst/>
          </a:prstGeom>
          <a:solidFill>
            <a:srgbClr val="111827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172968" y="1417320"/>
            <a:ext cx="54864" cy="1508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563624"/>
            <a:ext cx="310896" cy="31089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739896" y="15087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Offline Pipeline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310128" y="1892808"/>
            <a:ext cx="24231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Jetson edge inference + Gemma-3 via Ollama = zero internet dependency. Critical for remote NH bridges, dam faces, hill-state inspections.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6025896" y="1417320"/>
            <a:ext cx="2651760" cy="1508760"/>
          </a:xfrm>
          <a:prstGeom prst="rect">
            <a:avLst/>
          </a:prstGeom>
          <a:solidFill>
            <a:srgbClr val="111827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025896" y="1417320"/>
            <a:ext cx="54864" cy="15087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488" y="1563624"/>
            <a:ext cx="310896" cy="31089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592824" y="15087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Pixel-Precise Measurement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6163056" y="1892808"/>
            <a:ext cx="24231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3 segmentation + altitude math = exact crack length in cm, area in cm². Maps directly to IRC 22-2015 severity levels (L1/L2/L3).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320040" y="3154680"/>
            <a:ext cx="2651760" cy="1508760"/>
          </a:xfrm>
          <a:prstGeom prst="rect">
            <a:avLst/>
          </a:prstGeom>
          <a:solidFill>
            <a:srgbClr val="111827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320040" y="3154680"/>
            <a:ext cx="54864" cy="1508760"/>
          </a:xfrm>
          <a:prstGeom prst="rect">
            <a:avLst/>
          </a:prstGeom>
          <a:solidFill>
            <a:srgbClr val="FF9933"/>
          </a:solidFill>
          <a:ln w="12700">
            <a:solidFill>
              <a:srgbClr val="FF9933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" y="3300984"/>
            <a:ext cx="310896" cy="31089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86968" y="32461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GPS-Tagged Digital Trail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457200" y="3630168"/>
            <a:ext cx="24231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defect pinned to lat/lon. Historical comparison via DINOv2 embeddings. Turns reactive repair into predictive maintenance.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3172968" y="3154680"/>
            <a:ext cx="2651760" cy="1508760"/>
          </a:xfrm>
          <a:prstGeom prst="rect">
            <a:avLst/>
          </a:prstGeom>
          <a:solidFill>
            <a:srgbClr val="111827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3172968" y="3154680"/>
            <a:ext cx="54864" cy="1508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7560" y="3300984"/>
            <a:ext cx="310896" cy="310896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3739896" y="32461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LLM-Generated PWD Reports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3310128" y="3630168"/>
            <a:ext cx="24231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Gemma-3 writes the maintenance report — severity, recommended action, cost in INR, urgency. PDF ready to submit to state PWD on landing.</a:t>
            </a:r>
            <a:endParaRPr lang="en-US" sz="950" dirty="0"/>
          </a:p>
        </p:txBody>
      </p:sp>
      <p:sp>
        <p:nvSpPr>
          <p:cNvPr id="31" name="Shape 24"/>
          <p:cNvSpPr/>
          <p:nvPr/>
        </p:nvSpPr>
        <p:spPr>
          <a:xfrm>
            <a:off x="6025896" y="3154680"/>
            <a:ext cx="2651760" cy="1508760"/>
          </a:xfrm>
          <a:prstGeom prst="rect">
            <a:avLst/>
          </a:prstGeom>
          <a:solidFill>
            <a:srgbClr val="111827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6025896" y="3154680"/>
            <a:ext cx="54864" cy="15087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0488" y="3300984"/>
            <a:ext cx="310896" cy="310896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592824" y="32461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10× Cost Reduction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6163056" y="3630168"/>
            <a:ext cx="24231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₹80K–1.5L vs ₹5–15L manual audit. Makes quarterly inspection financially viable for the first time in India's infrastructure lifecycle.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TIMELINE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3-Day Hackathon Plan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build — core first, polish last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8412480" cy="548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54480" y="1188720"/>
            <a:ext cx="329184" cy="329184"/>
          </a:xfrm>
          <a:prstGeom prst="oval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70832" y="1188720"/>
            <a:ext cx="329184" cy="329184"/>
          </a:xfrm>
          <a:prstGeom prst="oval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87184" y="1188720"/>
            <a:ext cx="329184" cy="329184"/>
          </a:xfrm>
          <a:prstGeom prst="oval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691640"/>
            <a:ext cx="2651760" cy="3200400"/>
          </a:xfrm>
          <a:prstGeom prst="rect">
            <a:avLst/>
          </a:prstGeom>
          <a:solidFill>
            <a:srgbClr val="111827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691640"/>
            <a:ext cx="26517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175564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325880" y="175564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121408"/>
            <a:ext cx="2468880" cy="292608"/>
          </a:xfrm>
          <a:prstGeom prst="rect">
            <a:avLst/>
          </a:prstGeom>
          <a:solidFill>
            <a:srgbClr val="F59E0B">
              <a:alpha val="15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213969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Detection → Map pins (MVP)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75488" y="251460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75488" y="272491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Jetson setup + JetPack 6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5488" y="292608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YOLO11n TensorRT export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5488" y="312724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DINO Edge install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5488" y="332841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 assembly + test hover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5488" y="3529584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Pre-flight footage capture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5488" y="382219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75488" y="402336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WebSocket server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5488" y="422452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PostGIS database setup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5488" y="442569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 skeleton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5488" y="4626864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drone simulator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5488" y="482803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loop: JSON → pin on map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182112" y="1691640"/>
            <a:ext cx="2651760" cy="3200400"/>
          </a:xfrm>
          <a:prstGeom prst="rect">
            <a:avLst/>
          </a:prstGeom>
          <a:solidFill>
            <a:srgbClr val="111827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182112" y="1691640"/>
            <a:ext cx="265176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91840" y="175564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142232" y="175564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73552" y="2121408"/>
            <a:ext cx="2468880" cy="292608"/>
          </a:xfrm>
          <a:prstGeom prst="rect">
            <a:avLst/>
          </a:prstGeom>
          <a:solidFill>
            <a:srgbClr val="3B82F6">
              <a:alpha val="15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91840" y="213969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Full pipeline working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91840" y="251460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291840" y="272491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Jetson → Pixhawk MAVLink link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291840" y="292608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GPS telemetry in Python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291840" y="312724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waypoint mission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291840" y="332841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streaming live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291840" y="3621024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291840" y="382219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3 segmentation + cm² math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291840" y="402336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worker (Gemma-3/Ollama)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291840" y="422452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video MJPEG feed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291840" y="442569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entries in report panel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998464" y="1691640"/>
            <a:ext cx="2651760" cy="3200400"/>
          </a:xfrm>
          <a:prstGeom prst="rect">
            <a:avLst/>
          </a:prstGeom>
          <a:solidFill>
            <a:srgbClr val="111827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998464" y="1691640"/>
            <a:ext cx="265176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08192" y="175564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958584" y="175564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 + Demo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089904" y="2121408"/>
            <a:ext cx="2468880" cy="292608"/>
          </a:xfrm>
          <a:prstGeom prst="rect">
            <a:avLst/>
          </a:prstGeom>
          <a:solidFill>
            <a:srgbClr val="10B981">
              <a:alpha val="15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108192" y="213969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Clean demo · PDF · Pitch ready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108192" y="251460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108192" y="272491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integration test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108192" y="292608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flight at venue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108192" y="312724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footage prepared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108192" y="332841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rehearsal (timed)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108192" y="3621024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6108192" y="382219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report generation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108192" y="402336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UI polish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108192" y="422452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demo mode toggle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6108192" y="442569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colour coding (L1/2/3)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PROGRESS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 Right Now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in progress — software foundation complete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2651760" cy="3566160"/>
          </a:xfrm>
          <a:prstGeom prst="rect">
            <a:avLst/>
          </a:prstGeom>
          <a:solidFill>
            <a:srgbClr val="111827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417320"/>
            <a:ext cx="2651760" cy="347472"/>
          </a:xfrm>
          <a:prstGeom prst="rect">
            <a:avLst/>
          </a:prstGeom>
          <a:solidFill>
            <a:srgbClr val="10B981">
              <a:alpha val="20000"/>
            </a:srgbClr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46304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29768" y="1874520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67512" y="1874520"/>
            <a:ext cx="221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PostGIS DB running in Docker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29768" y="2313432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67512" y="2313432"/>
            <a:ext cx="221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 + WebSocket server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29768" y="2752344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67512" y="2752344"/>
            <a:ext cx="221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Detections saving to DB with GPS coords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29768" y="3191256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7512" y="3191256"/>
            <a:ext cx="221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 with live GPS map pins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29768" y="3630168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67512" y="3630168"/>
            <a:ext cx="221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drone simulator for testing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29768" y="4069080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67512" y="4069080"/>
            <a:ext cx="221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2 — pixel masks + cm² measurement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29768" y="4507992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67512" y="4507992"/>
            <a:ext cx="221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+ Gemma-3 4B report generation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172968" y="1417320"/>
            <a:ext cx="2651760" cy="3566160"/>
          </a:xfrm>
          <a:prstGeom prst="rect">
            <a:avLst/>
          </a:prstGeom>
          <a:solidFill>
            <a:srgbClr val="111827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172968" y="1417320"/>
            <a:ext cx="2651760" cy="347472"/>
          </a:xfrm>
          <a:prstGeom prst="rect">
            <a:avLst/>
          </a:prstGeom>
          <a:solidFill>
            <a:srgbClr val="F59E0B">
              <a:alpha val="20000"/>
            </a:srgbClr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82696" y="146304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282696" y="1874520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520440" y="1874520"/>
            <a:ext cx="221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Jetson Orin Nano setup (HW team)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82696" y="2313432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520440" y="2313432"/>
            <a:ext cx="221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YOLO11n TensorRT export on Jetson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282696" y="2752344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520440" y="2752344"/>
            <a:ext cx="221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DINO Edge deployment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282696" y="3191256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520440" y="3191256"/>
            <a:ext cx="221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 assembly + test hover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282696" y="3630168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520440" y="3630168"/>
            <a:ext cx="221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video streaming to dashboard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282696" y="4069080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520440" y="4069080"/>
            <a:ext cx="221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MAVLink GPS telemetry integration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025896" y="1417320"/>
            <a:ext cx="2651760" cy="3566160"/>
          </a:xfrm>
          <a:prstGeom prst="rect">
            <a:avLst/>
          </a:prstGeom>
          <a:solidFill>
            <a:srgbClr val="111827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25896" y="1417320"/>
            <a:ext cx="2651760" cy="347472"/>
          </a:xfrm>
          <a:prstGeom prst="rect">
            <a:avLst/>
          </a:prstGeom>
          <a:solidFill>
            <a:srgbClr val="3B82F6">
              <a:alpha val="20000"/>
            </a:srgbClr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35624" y="146304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135624" y="1874520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373368" y="1874520"/>
            <a:ext cx="221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autonomous mission flight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135624" y="2313432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373368" y="2313432"/>
            <a:ext cx="221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drone → backend connection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135624" y="2752344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373368" y="2752344"/>
            <a:ext cx="221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report generation (WeasyPrint)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135624" y="3191256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373368" y="3191256"/>
            <a:ext cx="221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UI polish + severity colours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135624" y="3630168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373368" y="3630168"/>
            <a:ext cx="221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demo mode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135624" y="4069080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373368" y="4069080"/>
            <a:ext cx="221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rehearsal demo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layers — each with a single responsibility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1901952" cy="3291840"/>
          </a:xfrm>
          <a:prstGeom prst="rect">
            <a:avLst/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417320"/>
            <a:ext cx="1901952" cy="384048"/>
          </a:xfrm>
          <a:prstGeom prst="rect">
            <a:avLst/>
          </a:prstGeom>
          <a:solidFill>
            <a:srgbClr val="F59E0B">
              <a:alpha val="22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630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· Aerial Platform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75488" y="1920240"/>
            <a:ext cx="1664208" cy="402336"/>
          </a:xfrm>
          <a:prstGeom prst="rect">
            <a:avLst/>
          </a:prstGeom>
          <a:solidFill>
            <a:srgbClr val="1F2937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1956816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F450 Quadcopter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5488" y="2432304"/>
            <a:ext cx="1664208" cy="402336"/>
          </a:xfrm>
          <a:prstGeom prst="rect">
            <a:avLst/>
          </a:prstGeom>
          <a:solidFill>
            <a:srgbClr val="1F2937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246888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Pixhawk 6C FC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5488" y="2944368"/>
            <a:ext cx="1664208" cy="402336"/>
          </a:xfrm>
          <a:prstGeom prst="rect">
            <a:avLst/>
          </a:prstGeom>
          <a:solidFill>
            <a:srgbClr val="1F2937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2980944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IMX477 4K Camera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5488" y="3456432"/>
            <a:ext cx="1664208" cy="402336"/>
          </a:xfrm>
          <a:prstGeom prst="rect">
            <a:avLst/>
          </a:prstGeom>
          <a:solidFill>
            <a:srgbClr val="1F2937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349300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HERE3+ RTK GPS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5488" y="3968496"/>
            <a:ext cx="1664208" cy="402336"/>
          </a:xfrm>
          <a:prstGeom prst="rect">
            <a:avLst/>
          </a:prstGeom>
          <a:solidFill>
            <a:srgbClr val="1F2937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400507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4S 5000mAh LiPo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267712" y="2834640"/>
            <a:ext cx="219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2487168" y="1417320"/>
            <a:ext cx="1901952" cy="3291840"/>
          </a:xfrm>
          <a:prstGeom prst="rect">
            <a:avLst/>
          </a:prstGeom>
          <a:solidFill>
            <a:srgbClr val="111827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487168" y="1417320"/>
            <a:ext cx="1901952" cy="384048"/>
          </a:xfrm>
          <a:prstGeom prst="rect">
            <a:avLst/>
          </a:prstGeom>
          <a:solidFill>
            <a:srgbClr val="3B82F6">
              <a:alpha val="22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78608" y="14630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· Edge Compute (Jetson)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596896" y="1920240"/>
            <a:ext cx="1664208" cy="402336"/>
          </a:xfrm>
          <a:prstGeom prst="rect">
            <a:avLst/>
          </a:prstGeom>
          <a:solidFill>
            <a:srgbClr val="1F2937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51760" y="1956816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Jetson Orin Nano Super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596896" y="2432304"/>
            <a:ext cx="1664208" cy="402336"/>
          </a:xfrm>
          <a:prstGeom prst="rect">
            <a:avLst/>
          </a:prstGeom>
          <a:solidFill>
            <a:srgbClr val="1F2937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46888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YOLO11n · TensorRT INT8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596896" y="2944368"/>
            <a:ext cx="1664208" cy="402336"/>
          </a:xfrm>
          <a:prstGeom prst="rect">
            <a:avLst/>
          </a:prstGeom>
          <a:solidFill>
            <a:srgbClr val="1F2937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51760" y="2980944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DINO Edge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596896" y="3456432"/>
            <a:ext cx="1664208" cy="402336"/>
          </a:xfrm>
          <a:prstGeom prst="rect">
            <a:avLst/>
          </a:prstGeom>
          <a:solidFill>
            <a:srgbClr val="1F2937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49300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GStreamer Pipeline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596896" y="3968496"/>
            <a:ext cx="1664208" cy="402336"/>
          </a:xfrm>
          <a:prstGeom prst="rect">
            <a:avLst/>
          </a:prstGeom>
          <a:solidFill>
            <a:srgbClr val="1F2937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51760" y="400507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MAVSDK · MAVLink 2.0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389120" y="2834640"/>
            <a:ext cx="219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608576" y="1417320"/>
            <a:ext cx="1901952" cy="3291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08576" y="1417320"/>
            <a:ext cx="1901952" cy="384048"/>
          </a:xfrm>
          <a:prstGeom prst="rect">
            <a:avLst/>
          </a:prstGeom>
          <a:solidFill>
            <a:srgbClr val="10B981">
              <a:alpha val="22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00016" y="14630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· Ground Station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718304" y="1920240"/>
            <a:ext cx="1664208" cy="402336"/>
          </a:xfrm>
          <a:prstGeom prst="rect">
            <a:avLst/>
          </a:prstGeom>
          <a:solidFill>
            <a:srgbClr val="1F2937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73168" y="1956816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WebSocket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718304" y="2432304"/>
            <a:ext cx="1664208" cy="402336"/>
          </a:xfrm>
          <a:prstGeom prst="rect">
            <a:avLst/>
          </a:prstGeom>
          <a:solidFill>
            <a:srgbClr val="1F2937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73168" y="246888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3 Segmentation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718304" y="2944368"/>
            <a:ext cx="1664208" cy="402336"/>
          </a:xfrm>
          <a:prstGeom prst="rect">
            <a:avLst/>
          </a:prstGeom>
          <a:solidFill>
            <a:srgbClr val="1F2937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73168" y="2980944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DINOv2 Anomaly Score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718304" y="3456432"/>
            <a:ext cx="1664208" cy="402336"/>
          </a:xfrm>
          <a:prstGeom prst="rect">
            <a:avLst/>
          </a:prstGeom>
          <a:solidFill>
            <a:srgbClr val="1F2937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73168" y="349300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Gemma-3 via Ollama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718304" y="3968496"/>
            <a:ext cx="1664208" cy="402336"/>
          </a:xfrm>
          <a:prstGeom prst="rect">
            <a:avLst/>
          </a:prstGeom>
          <a:solidFill>
            <a:srgbClr val="1F2937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73168" y="400507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PostGIS Database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510528" y="2834640"/>
            <a:ext cx="219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729984" y="1417320"/>
            <a:ext cx="1901952" cy="3291840"/>
          </a:xfrm>
          <a:prstGeom prst="rect">
            <a:avLst/>
          </a:prstGeom>
          <a:solidFill>
            <a:srgbClr val="111827"/>
          </a:solidFill>
          <a:ln w="12700">
            <a:solidFill>
              <a:srgbClr val="FF993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729984" y="1417320"/>
            <a:ext cx="1901952" cy="384048"/>
          </a:xfrm>
          <a:prstGeom prst="rect">
            <a:avLst/>
          </a:prstGeom>
          <a:solidFill>
            <a:srgbClr val="FF9933">
              <a:alpha val="22000"/>
            </a:srgbClr>
          </a:solidFill>
          <a:ln w="12700">
            <a:solidFill>
              <a:srgbClr val="FF993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821424" y="14630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FF9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 · Dashboard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839712" y="1920240"/>
            <a:ext cx="1664208" cy="402336"/>
          </a:xfrm>
          <a:prstGeom prst="rect">
            <a:avLst/>
          </a:prstGeom>
          <a:solidFill>
            <a:srgbClr val="1F2937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94576" y="1956816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839712" y="2432304"/>
            <a:ext cx="1664208" cy="402336"/>
          </a:xfrm>
          <a:prstGeom prst="rect">
            <a:avLst/>
          </a:prstGeom>
          <a:solidFill>
            <a:srgbClr val="1F2937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894576" y="246888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Folium GPS Map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839712" y="2944368"/>
            <a:ext cx="1664208" cy="402336"/>
          </a:xfrm>
          <a:prstGeom prst="rect">
            <a:avLst/>
          </a:prstGeom>
          <a:solidFill>
            <a:srgbClr val="1F2937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894576" y="2980944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MJPEG Live Feed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6839712" y="3456432"/>
            <a:ext cx="1664208" cy="402336"/>
          </a:xfrm>
          <a:prstGeom prst="rect">
            <a:avLst/>
          </a:prstGeom>
          <a:solidFill>
            <a:srgbClr val="1F2937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894576" y="349300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Report Panel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6839712" y="3968496"/>
            <a:ext cx="1664208" cy="402336"/>
          </a:xfrm>
          <a:prstGeom prst="rect">
            <a:avLst/>
          </a:prstGeom>
          <a:solidFill>
            <a:srgbClr val="1F2937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894576" y="400507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WeasyPrint PDF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solidFill>
            <a:srgbClr val="1F293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57200" y="48280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Flow:  Camera Frame  →  Edge AI Inference  →  WebSocket Push  →  SAM 3 + LLM Analysis  →  PostGIS Save  →  Dashboard Map Pin  →  PDF Report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Model for India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₹70L+ ARR potential in Year 1 — three clear tiers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2633472" cy="3429000"/>
          </a:xfrm>
          <a:prstGeom prst="rect">
            <a:avLst/>
          </a:prstGeom>
          <a:solidFill>
            <a:srgbClr val="111827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417320"/>
            <a:ext cx="2633472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50876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75488" y="171907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as a Service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" y="202996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₹1–2L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75488" y="2468880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inspection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" y="2724912"/>
            <a:ext cx="2423160" cy="237744"/>
          </a:xfrm>
          <a:prstGeom prst="rect">
            <a:avLst/>
          </a:prstGeom>
          <a:solidFill>
            <a:srgbClr val="F59E0B">
              <a:alpha val="18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75234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NHAI · State PWD · Smart Cities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02920" y="3063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drone mission (90 min)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337413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GPS-tagged defect map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2920" y="36850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PWD IRC 22-2015 PDF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2920" y="39959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+ English report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02920" y="430682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repair list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18688" y="1417320"/>
            <a:ext cx="2633472" cy="3429000"/>
          </a:xfrm>
          <a:prstGeom prst="rect">
            <a:avLst/>
          </a:prstGeom>
          <a:solidFill>
            <a:srgbClr val="111827"/>
          </a:solidFill>
          <a:ln w="15240">
            <a:solidFill>
              <a:srgbClr val="3B82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18688" y="1417320"/>
            <a:ext cx="2633472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28416" y="150876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28416" y="171907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Subscription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28416" y="202996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₹8–25L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3328416" y="2468880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year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328416" y="2724912"/>
            <a:ext cx="2423160" cy="237744"/>
          </a:xfrm>
          <a:prstGeom prst="rect">
            <a:avLst/>
          </a:prstGeom>
          <a:solidFill>
            <a:srgbClr val="3B82F6">
              <a:alpha val="18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55848" y="275234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NTPC · ONGC · L&amp;T · Adani Ports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355848" y="3063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inspection schedule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355848" y="337413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deterioration tracking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355848" y="36850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CMMS integration (SAP PM)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355848" y="39959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reporting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355848" y="430682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drone deployment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071616" y="1417320"/>
            <a:ext cx="2633472" cy="3429000"/>
          </a:xfrm>
          <a:prstGeom prst="rect">
            <a:avLst/>
          </a:prstGeom>
          <a:solidFill>
            <a:srgbClr val="111827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71616" y="1417320"/>
            <a:ext cx="2633472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81344" y="150876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181344" y="171907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Platform License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181344" y="202996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₹3–8L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6181344" y="2468880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year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181344" y="2724912"/>
            <a:ext cx="2423160" cy="237744"/>
          </a:xfrm>
          <a:prstGeom prst="rect">
            <a:avLst/>
          </a:prstGeom>
          <a:solidFill>
            <a:srgbClr val="10B981">
              <a:alpha val="18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08776" y="275234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AECOM · Municipal Corporations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208776" y="3063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stack only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208776" y="337413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uses own drone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208776" y="36850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dashboard + API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208776" y="39959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Multi-site database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208776" y="430682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LLM prompts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65760" y="4864608"/>
            <a:ext cx="8412480" cy="237744"/>
          </a:xfrm>
          <a:prstGeom prst="rect">
            <a:avLst/>
          </a:prstGeom>
          <a:solidFill>
            <a:srgbClr val="1F293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Revenue Projection:  25 Govt inspections × ₹1.2L = ₹30L  +  3 Industrial subscriptions × ₹10L = ₹30L  +  2 SaaS licences × ₹5L = ₹10L  →  ₹70L ARR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BENEFITS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HAWK-I Changes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India's infrastructure management — immediately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1920240" cy="1920240"/>
          </a:xfrm>
          <a:prstGeom prst="rect">
            <a:avLst/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087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Time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87452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 days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2128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45059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minutes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487168" y="1417320"/>
            <a:ext cx="1920240" cy="1920240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78608" y="15087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Audit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578608" y="187452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₹5–15L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578608" y="22128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578608" y="245059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₹80K–1.5L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08576" y="1417320"/>
            <a:ext cx="1920240" cy="1920240"/>
          </a:xfrm>
          <a:prstGeom prst="rect">
            <a:avLst/>
          </a:prstGeom>
          <a:solidFill>
            <a:srgbClr val="111827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0016" y="15087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00016" y="187452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records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00016" y="22128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00016" y="245059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GPS-tagged PDF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729984" y="1417320"/>
            <a:ext cx="1920240" cy="1920240"/>
          </a:xfrm>
          <a:prstGeom prst="rect">
            <a:avLst/>
          </a:prstGeom>
          <a:solidFill>
            <a:srgbClr val="111827"/>
          </a:solidFill>
          <a:ln w="12700">
            <a:solidFill>
              <a:srgbClr val="FF99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21424" y="15087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9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Frequency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21424" y="187452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10–20 years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821424" y="22128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821424" y="245059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quarter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65760" y="3474720"/>
            <a:ext cx="8412480" cy="347472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520440"/>
            <a:ext cx="237744" cy="237744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868680" y="3529584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human access to hazardous zones during inspection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365760" y="3877056"/>
            <a:ext cx="8412480" cy="347472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922776"/>
            <a:ext cx="237744" cy="237744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868680" y="3931920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aligned with PM Gati Shakti &amp; MORTH mandatory inspection compliance</a:t>
            </a:r>
            <a:endParaRPr lang="en-US" sz="1050" dirty="0"/>
          </a:p>
        </p:txBody>
      </p:sp>
      <p:sp>
        <p:nvSpPr>
          <p:cNvPr id="32" name="Shape 28"/>
          <p:cNvSpPr/>
          <p:nvPr/>
        </p:nvSpPr>
        <p:spPr>
          <a:xfrm>
            <a:off x="365760" y="4279392"/>
            <a:ext cx="8412480" cy="347472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325112"/>
            <a:ext cx="237744" cy="237744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868680" y="4334256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DINOv2 temporal tracking turns reactive repair into predictive maintenance</a:t>
            </a:r>
            <a:endParaRPr lang="en-US" sz="1050" dirty="0"/>
          </a:p>
        </p:txBody>
      </p:sp>
      <p:sp>
        <p:nvSpPr>
          <p:cNvPr id="35" name="Shape 30"/>
          <p:cNvSpPr/>
          <p:nvPr/>
        </p:nvSpPr>
        <p:spPr>
          <a:xfrm>
            <a:off x="365760" y="4681728"/>
            <a:ext cx="8412480" cy="347472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4727448"/>
            <a:ext cx="237744" cy="237744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868680" y="473659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to NHAI, ISRO, ONGC, Adani Ports — any infrastructure operator in India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HAWK-I Goes Next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hackathon prototype to national infrastructure intelligence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2633472" cy="2651760"/>
          </a:xfrm>
          <a:prstGeom prst="rect">
            <a:avLst/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417320"/>
            <a:ext cx="2633472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53619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0–6 months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" y="19202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pilot: 3–5 state PWD districts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" y="23774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DPIIT Startup India registration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" y="28346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NHAI bridge corridor contract (pilot)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5488" y="32918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fine-tuning on Indian structure types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18688" y="1417320"/>
            <a:ext cx="2633472" cy="2651760"/>
          </a:xfrm>
          <a:prstGeom prst="rect">
            <a:avLst/>
          </a:prstGeom>
          <a:solidFill>
            <a:srgbClr val="111827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18688" y="1417320"/>
            <a:ext cx="2633472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28416" y="153619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6–18 months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28416" y="19202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Cities Mission integration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28416" y="23774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client onboarding (NTPC, ONGC)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28416" y="28346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support (Tamil, Telugu, Marathi)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28416" y="32918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PM / CMMS API integration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71616" y="1417320"/>
            <a:ext cx="2633472" cy="2651760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71616" y="1417320"/>
            <a:ext cx="2633472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81344" y="153619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18 months+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81344" y="19202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infrastructure intelligence layer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181344" y="23774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failure modelling (ML on historical data)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181344" y="28346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Swarm drone deployment for large structures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181344" y="32918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to SAARC nations (Bangladesh, Sri Lanka)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4206240"/>
            <a:ext cx="8412480" cy="822960"/>
          </a:xfrm>
          <a:prstGeom prst="rect">
            <a:avLst/>
          </a:prstGeom>
          <a:solidFill>
            <a:srgbClr val="1F293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" y="4206240"/>
            <a:ext cx="54864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2793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8640" y="4480560"/>
            <a:ext cx="8092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bridge, dam, and public structure in India connected to a live health intelligence layer — inspected quarterly, deterioration tracked over time, failures predicted before they happen.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4952" cy="91440"/>
          </a:xfrm>
          <a:prstGeom prst="rect">
            <a:avLst/>
          </a:prstGeom>
          <a:solidFill>
            <a:srgbClr val="FF9933"/>
          </a:solidFill>
          <a:ln w="12700">
            <a:solidFill>
              <a:srgbClr val="FF99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44952" y="0"/>
            <a:ext cx="3054096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99048" y="0"/>
            <a:ext cx="3044952" cy="91440"/>
          </a:xfrm>
          <a:prstGeom prst="rect">
            <a:avLst/>
          </a:prstGeom>
          <a:solidFill>
            <a:srgbClr val="138808"/>
          </a:solidFill>
          <a:ln w="12700">
            <a:solidFill>
              <a:srgbClr val="13880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457200"/>
            <a:ext cx="4572000" cy="4572000"/>
          </a:xfrm>
          <a:prstGeom prst="oval">
            <a:avLst/>
          </a:prstGeom>
          <a:solidFill>
            <a:srgbClr val="F59E0B">
              <a:alpha val="6000"/>
            </a:srgbClr>
          </a:solidFill>
          <a:ln w="6350">
            <a:solidFill>
              <a:srgbClr val="F59E0B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Safer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with AI</a:t>
            </a:r>
            <a:endParaRPr lang="en-US" sz="5600" dirty="0"/>
          </a:p>
        </p:txBody>
      </p:sp>
      <p:sp>
        <p:nvSpPr>
          <p:cNvPr id="8" name="Shape 6"/>
          <p:cNvSpPr/>
          <p:nvPr/>
        </p:nvSpPr>
        <p:spPr>
          <a:xfrm>
            <a:off x="3200400" y="2697480"/>
            <a:ext cx="2743200" cy="3657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834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spc="8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HAWK-I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" y="3429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  ·  Grounding DINO  ·  SAM 3  ·  Gemma-3  ·  FastAPI  ·  PostGIS  ·  Streamlit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3886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F293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864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Equinox '26   ·   Open Innovation Track   ·   Smart Infrastructure   ·   Team Hawk-I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HAWK-I — AI Infrastructure Inspection</dc:title>
  <dc:subject>PptxGenJS Presentation</dc:subject>
  <dc:creator>PptxGenJS</dc:creator>
  <cp:lastModifiedBy>PptxGenJS</cp:lastModifiedBy>
  <cp:revision>1</cp:revision>
  <dcterms:created xsi:type="dcterms:W3CDTF">2026-04-07T10:56:28Z</dcterms:created>
  <dcterms:modified xsi:type="dcterms:W3CDTF">2026-04-07T10:56:28Z</dcterms:modified>
</cp:coreProperties>
</file>